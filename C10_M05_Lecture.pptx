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Fira Sans ExtraBold"/>
      <p:bold r:id="rId20"/>
      <p:boldItalic r:id="rId21"/>
    </p:embeddedFont>
    <p:embeddedFont>
      <p:font typeface="Fira Sans"/>
      <p:regular r:id="rId22"/>
      <p:bold r:id="rId23"/>
      <p:italic r:id="rId24"/>
      <p:boldItalic r:id="rId25"/>
    </p:embeddedFont>
    <p:embeddedFont>
      <p:font typeface="Karla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657">
          <p15:clr>
            <a:srgbClr val="9AA0A6"/>
          </p15:clr>
        </p15:guide>
        <p15:guide id="4" pos="4649">
          <p15:clr>
            <a:srgbClr val="9AA0A6"/>
          </p15:clr>
        </p15:guide>
        <p15:guide id="5" pos="3497">
          <p15:clr>
            <a:srgbClr val="9AA0A6"/>
          </p15:clr>
        </p15:guide>
        <p15:guide id="6" pos="2350">
          <p15:clr>
            <a:srgbClr val="9AA0A6"/>
          </p15:clr>
        </p15:guide>
        <p15:guide id="7" pos="2016">
          <p15:clr>
            <a:srgbClr val="9AA0A6"/>
          </p15:clr>
        </p15:guide>
      </p15:sldGuideLst>
    </p:ext>
    <p:ext uri="GoogleSlidesCustomDataVersion2">
      <go:slidesCustomData xmlns:go="http://customooxmlschemas.google.com/" r:id="rId30" roundtripDataSignature="AMtx7mhcyMtpeyFhzzznYrsuTE+AB215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657" orient="horz"/>
        <p:guide pos="4649"/>
        <p:guide pos="3497"/>
        <p:guide pos="2350"/>
        <p:guide pos="201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ExtraBold-bold.fntdata"/><Relationship Id="rId22" Type="http://schemas.openxmlformats.org/officeDocument/2006/relationships/font" Target="fonts/FiraSans-regular.fntdata"/><Relationship Id="rId21" Type="http://schemas.openxmlformats.org/officeDocument/2006/relationships/font" Target="fonts/FiraSansExtraBold-boldItalic.fntdata"/><Relationship Id="rId24" Type="http://schemas.openxmlformats.org/officeDocument/2006/relationships/font" Target="fonts/FiraSans-italic.fntdata"/><Relationship Id="rId23" Type="http://schemas.openxmlformats.org/officeDocument/2006/relationships/font" Target="fonts/Fira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Karla-regular.fntdata"/><Relationship Id="rId25" Type="http://schemas.openxmlformats.org/officeDocument/2006/relationships/font" Target="fonts/FiraSans-boldItalic.fntdata"/><Relationship Id="rId28" Type="http://schemas.openxmlformats.org/officeDocument/2006/relationships/font" Target="fonts/Karla-italic.fntdata"/><Relationship Id="rId27" Type="http://schemas.openxmlformats.org/officeDocument/2006/relationships/font" Target="fonts/Karl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Karla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Today we’ll see how </a:t>
            </a:r>
            <a:r>
              <a:rPr b="1" lang="en">
                <a:solidFill>
                  <a:schemeClr val="dk1"/>
                </a:solidFill>
              </a:rPr>
              <a:t>attention</a:t>
            </a:r>
            <a:r>
              <a:rPr lang="en">
                <a:solidFill>
                  <a:schemeClr val="dk1"/>
                </a:solidFill>
              </a:rPr>
              <a:t> augments RNNs by letting the model </a:t>
            </a:r>
            <a:r>
              <a:rPr i="1" lang="en">
                <a:solidFill>
                  <a:schemeClr val="dk1"/>
                </a:solidFill>
              </a:rPr>
              <a:t>selectively focus</a:t>
            </a:r>
            <a:r>
              <a:rPr lang="en">
                <a:solidFill>
                  <a:schemeClr val="dk1"/>
                </a:solidFill>
              </a:rPr>
              <a:t> on the most relevant parts of a sequence. This tackles the problem of long sequences overwhelming a fixed memory and sets us up for clearer, more accurate decisions on sequential data.”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RNNs carry memory, but on </a:t>
            </a:r>
            <a:r>
              <a:rPr b="1" lang="en">
                <a:solidFill>
                  <a:schemeClr val="dk1"/>
                </a:solidFill>
              </a:rPr>
              <a:t>long sequences</a:t>
            </a:r>
            <a:r>
              <a:rPr lang="en">
                <a:solidFill>
                  <a:schemeClr val="dk1"/>
                </a:solidFill>
              </a:rPr>
              <a:t> important details get diluted. </a:t>
            </a:r>
            <a:r>
              <a:rPr b="1" lang="en">
                <a:solidFill>
                  <a:schemeClr val="dk1"/>
                </a:solidFill>
              </a:rPr>
              <a:t>Attention</a:t>
            </a:r>
            <a:r>
              <a:rPr lang="en">
                <a:solidFill>
                  <a:schemeClr val="dk1"/>
                </a:solidFill>
              </a:rPr>
              <a:t> adds a dynamic weighting over time steps, so the model emphasizes what matters most. The payoff is better </a:t>
            </a:r>
            <a:r>
              <a:rPr b="1" lang="en">
                <a:solidFill>
                  <a:schemeClr val="dk1"/>
                </a:solidFill>
              </a:rPr>
              <a:t>long-term dependency capture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clearer decisions</a:t>
            </a:r>
            <a:r>
              <a:rPr lang="en">
                <a:solidFill>
                  <a:schemeClr val="dk1"/>
                </a:solidFill>
              </a:rPr>
              <a:t> across forecasting, language tasks, and other sequential behaviors.”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4eaa44383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34eaa4438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“Think of attention as a mechanism that highlights the </a:t>
            </a:r>
            <a:r>
              <a:rPr b="1" lang="en">
                <a:solidFill>
                  <a:schemeClr val="dk1"/>
                </a:solidFill>
              </a:rPr>
              <a:t>most relevant parts</a:t>
            </a:r>
            <a:r>
              <a:rPr lang="en">
                <a:solidFill>
                  <a:schemeClr val="dk1"/>
                </a:solidFill>
              </a:rPr>
              <a:t> of an input sequence. Three terms to anchor: </a:t>
            </a:r>
            <a:r>
              <a:rPr b="1" lang="en">
                <a:solidFill>
                  <a:schemeClr val="dk1"/>
                </a:solidFill>
              </a:rPr>
              <a:t>alignment score</a:t>
            </a:r>
            <a:r>
              <a:rPr lang="en">
                <a:solidFill>
                  <a:schemeClr val="dk1"/>
                </a:solidFill>
              </a:rPr>
              <a:t> (how relevant each position is), </a:t>
            </a:r>
            <a:r>
              <a:rPr b="1" lang="en">
                <a:solidFill>
                  <a:schemeClr val="dk1"/>
                </a:solidFill>
              </a:rPr>
              <a:t>attention weights</a:t>
            </a:r>
            <a:r>
              <a:rPr lang="en">
                <a:solidFill>
                  <a:schemeClr val="dk1"/>
                </a:solidFill>
              </a:rPr>
              <a:t> (softmax-normalized importances per time step), and the </a:t>
            </a:r>
            <a:r>
              <a:rPr b="1" lang="en">
                <a:solidFill>
                  <a:schemeClr val="dk1"/>
                </a:solidFill>
              </a:rPr>
              <a:t>context vector</a:t>
            </a:r>
            <a:r>
              <a:rPr lang="en">
                <a:solidFill>
                  <a:schemeClr val="dk1"/>
                </a:solidFill>
              </a:rPr>
              <a:t> (the weighted sum of sequence representations). You’ll see two scoring styles: </a:t>
            </a:r>
            <a:r>
              <a:rPr b="1" lang="en">
                <a:solidFill>
                  <a:schemeClr val="dk1"/>
                </a:solidFill>
              </a:rPr>
              <a:t>additive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multiplicative (dot-product)</a:t>
            </a:r>
            <a:r>
              <a:rPr lang="en">
                <a:solidFill>
                  <a:schemeClr val="dk1"/>
                </a:solidFill>
              </a:rPr>
              <a:t> attention.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34f63cf967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34f63cf96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“For each output step, we </a:t>
            </a:r>
            <a:r>
              <a:rPr b="1" lang="en">
                <a:solidFill>
                  <a:schemeClr val="dk1"/>
                </a:solidFill>
              </a:rPr>
              <a:t>score</a:t>
            </a:r>
            <a:r>
              <a:rPr lang="en">
                <a:solidFill>
                  <a:schemeClr val="dk1"/>
                </a:solidFill>
              </a:rPr>
              <a:t> the current state against </a:t>
            </a:r>
            <a:r>
              <a:rPr i="1" lang="en">
                <a:solidFill>
                  <a:schemeClr val="dk1"/>
                </a:solidFill>
              </a:rPr>
              <a:t>every</a:t>
            </a:r>
            <a:r>
              <a:rPr lang="en">
                <a:solidFill>
                  <a:schemeClr val="dk1"/>
                </a:solidFill>
              </a:rPr>
              <a:t> input position, apply a </a:t>
            </a:r>
            <a:r>
              <a:rPr b="1" lang="en">
                <a:solidFill>
                  <a:schemeClr val="dk1"/>
                </a:solidFill>
              </a:rPr>
              <a:t>softmax</a:t>
            </a:r>
            <a:r>
              <a:rPr lang="en">
                <a:solidFill>
                  <a:schemeClr val="dk1"/>
                </a:solidFill>
              </a:rPr>
              <a:t> to get attention weights that sum to one, and build a </a:t>
            </a:r>
            <a:r>
              <a:rPr b="1" lang="en">
                <a:solidFill>
                  <a:schemeClr val="dk1"/>
                </a:solidFill>
              </a:rPr>
              <a:t>context vector</a:t>
            </a:r>
            <a:r>
              <a:rPr lang="en">
                <a:solidFill>
                  <a:schemeClr val="dk1"/>
                </a:solidFill>
              </a:rPr>
              <a:t> as the weighted sum of hidden states. Feeding this context (optionally with the current state) to the decoder yields the output—a </a:t>
            </a:r>
            <a:r>
              <a:rPr b="1" lang="en">
                <a:solidFill>
                  <a:schemeClr val="dk1"/>
                </a:solidFill>
              </a:rPr>
              <a:t>dynamic spotlight</a:t>
            </a:r>
            <a:r>
              <a:rPr lang="en">
                <a:solidFill>
                  <a:schemeClr val="dk1"/>
                </a:solidFill>
              </a:rPr>
              <a:t> that moves to the most pertinent inputs as we decode.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32547984f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32547984f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“Use the diagram here to track the full pipeline end-to-end: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Data prep &amp; encoding</a:t>
            </a:r>
            <a:r>
              <a:rPr lang="en">
                <a:solidFill>
                  <a:schemeClr val="dk1"/>
                </a:solidFill>
              </a:rPr>
              <a:t> into RNN/LSTM/GRU hidden states,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Alignment score computation</a:t>
            </a:r>
            <a:r>
              <a:rPr lang="en">
                <a:solidFill>
                  <a:schemeClr val="dk1"/>
                </a:solidFill>
              </a:rPr>
              <a:t> vs. the decoder’s current state,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Attention weight generation</a:t>
            </a:r>
            <a:r>
              <a:rPr lang="en">
                <a:solidFill>
                  <a:schemeClr val="dk1"/>
                </a:solidFill>
              </a:rPr>
              <a:t> via softmax,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Context vector formation</a:t>
            </a:r>
            <a:r>
              <a:rPr lang="en">
                <a:solidFill>
                  <a:schemeClr val="dk1"/>
                </a:solidFill>
              </a:rPr>
              <a:t> as a weighted sum,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Integration &amp; output generation</a:t>
            </a:r>
            <a:r>
              <a:rPr lang="en">
                <a:solidFill>
                  <a:schemeClr val="dk1"/>
                </a:solidFill>
              </a:rPr>
              <a:t>, and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Model training &amp; optimization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Notice how the diagram (page 5) makes the encoder states, scoring, and softmax normalization explicit.”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Input sequence:</a:t>
            </a:r>
            <a:r>
              <a:rPr lang="en">
                <a:solidFill>
                  <a:schemeClr val="dk1"/>
                </a:solidFill>
              </a:rPr>
              <a:t> x1,…,xnx_1, \dots, x_nx1​,…,xn​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Encoder hidden states:</a:t>
            </a:r>
            <a:r>
              <a:rPr lang="en">
                <a:solidFill>
                  <a:schemeClr val="dk1"/>
                </a:solidFill>
              </a:rPr>
              <a:t> h1,…,hnh_1, \dots, h_nh1​,…,hn​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Attention layer:</a:t>
            </a:r>
            <a:r>
              <a:rPr lang="en">
                <a:solidFill>
                  <a:schemeClr val="dk1"/>
                </a:solidFill>
              </a:rPr>
              <a:t> scores → </a:t>
            </a:r>
            <a:r>
              <a:rPr b="1" lang="en">
                <a:solidFill>
                  <a:schemeClr val="dk1"/>
                </a:solidFill>
              </a:rPr>
              <a:t>α₁…αₙ</a:t>
            </a:r>
            <a:r>
              <a:rPr lang="en">
                <a:solidFill>
                  <a:schemeClr val="dk1"/>
                </a:solidFill>
              </a:rPr>
              <a:t>, softmax-normalized.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Context vector:</a:t>
            </a:r>
            <a:r>
              <a:rPr lang="en">
                <a:solidFill>
                  <a:schemeClr val="dk1"/>
                </a:solidFill>
              </a:rPr>
              <a:t> c=∑αi⋅hic = \sum \alpha_i \cdot h_ic=∑αi​⋅hi​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Decoder/output:</a:t>
            </a:r>
            <a:r>
              <a:rPr lang="en">
                <a:solidFill>
                  <a:schemeClr val="dk1"/>
                </a:solidFill>
              </a:rPr>
              <a:t> uses ccc (and state) to generate predictions.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Addresses fixed-vector bottlenecks; allows direct access to any time step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4f352642b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34f352642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“We can attach attention to </a:t>
            </a:r>
            <a:r>
              <a:rPr b="1" lang="en">
                <a:solidFill>
                  <a:schemeClr val="dk1"/>
                </a:solidFill>
              </a:rPr>
              <a:t>SimpleRNNs, LSTMs, or GRUs</a:t>
            </a:r>
            <a:r>
              <a:rPr lang="en">
                <a:solidFill>
                  <a:schemeClr val="dk1"/>
                </a:solidFill>
              </a:rPr>
              <a:t>. Choose a scoring function—</a:t>
            </a:r>
            <a:r>
              <a:rPr b="1" lang="en">
                <a:solidFill>
                  <a:schemeClr val="dk1"/>
                </a:solidFill>
              </a:rPr>
              <a:t>additive</a:t>
            </a:r>
            <a:r>
              <a:rPr lang="en">
                <a:solidFill>
                  <a:schemeClr val="dk1"/>
                </a:solidFill>
              </a:rPr>
              <a:t> or </a:t>
            </a:r>
            <a:r>
              <a:rPr b="1" lang="en">
                <a:solidFill>
                  <a:schemeClr val="dk1"/>
                </a:solidFill>
              </a:rPr>
              <a:t>multiplicative</a:t>
            </a:r>
            <a:r>
              <a:rPr lang="en">
                <a:solidFill>
                  <a:schemeClr val="dk1"/>
                </a:solidFill>
              </a:rPr>
              <a:t>—and let the model shift focus as context changes over time. The result is improved sequence modeling when relevance isn’t uniform across the timeline.” Long short term memory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1050">
                <a:solidFill>
                  <a:srgbClr val="76767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gated recurrent unit (GRU</a:t>
            </a:r>
            <a:r>
              <a:rPr lang="en" sz="1050">
                <a:solidFill>
                  <a:srgbClr val="47474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d50292c37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7d50292c3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“In practice: </a:t>
            </a:r>
            <a:r>
              <a:rPr b="1" lang="en">
                <a:solidFill>
                  <a:schemeClr val="dk1"/>
                </a:solidFill>
              </a:rPr>
              <a:t>financial forecasting</a:t>
            </a:r>
            <a:r>
              <a:rPr lang="en">
                <a:solidFill>
                  <a:schemeClr val="dk1"/>
                </a:solidFill>
              </a:rPr>
              <a:t> benefits when attention highlights influential historical steps; </a:t>
            </a:r>
            <a:r>
              <a:rPr b="1" lang="en">
                <a:solidFill>
                  <a:schemeClr val="dk1"/>
                </a:solidFill>
              </a:rPr>
              <a:t>patient monitoring</a:t>
            </a:r>
            <a:r>
              <a:rPr lang="en">
                <a:solidFill>
                  <a:schemeClr val="dk1"/>
                </a:solidFill>
              </a:rPr>
              <a:t> improves by focusing on critical vital-sign changes, reducing false alarms; </a:t>
            </a:r>
            <a:r>
              <a:rPr b="1" lang="en">
                <a:solidFill>
                  <a:schemeClr val="dk1"/>
                </a:solidFill>
              </a:rPr>
              <a:t>retail demand</a:t>
            </a:r>
            <a:r>
              <a:rPr lang="en">
                <a:solidFill>
                  <a:schemeClr val="dk1"/>
                </a:solidFill>
              </a:rPr>
              <a:t> modeling emphasizes recent or contextually significant sales periods to improve planning. The common thread is that attention surfaces the </a:t>
            </a:r>
            <a:r>
              <a:rPr i="1" lang="en">
                <a:solidFill>
                  <a:schemeClr val="dk1"/>
                </a:solidFill>
              </a:rPr>
              <a:t>right</a:t>
            </a:r>
            <a:r>
              <a:rPr lang="en">
                <a:solidFill>
                  <a:schemeClr val="dk1"/>
                </a:solidFill>
              </a:rPr>
              <a:t> time steps at the </a:t>
            </a:r>
            <a:r>
              <a:rPr i="1" lang="en">
                <a:solidFill>
                  <a:schemeClr val="dk1"/>
                </a:solidFill>
              </a:rPr>
              <a:t>right</a:t>
            </a:r>
            <a:r>
              <a:rPr lang="en">
                <a:solidFill>
                  <a:schemeClr val="dk1"/>
                </a:solidFill>
              </a:rPr>
              <a:t> moment.”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44e3f0d77_2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944e3f0d77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“A standard RNN tends to treat all past actions equally, which can </a:t>
            </a:r>
            <a:r>
              <a:rPr b="1" lang="en">
                <a:solidFill>
                  <a:schemeClr val="dk1"/>
                </a:solidFill>
              </a:rPr>
              <a:t>miss signals</a:t>
            </a:r>
            <a:r>
              <a:rPr lang="en">
                <a:solidFill>
                  <a:schemeClr val="dk1"/>
                </a:solidFill>
              </a:rPr>
              <a:t>. Adding attention lets the network assign </a:t>
            </a:r>
            <a:r>
              <a:rPr b="1" lang="en">
                <a:solidFill>
                  <a:schemeClr val="dk1"/>
                </a:solidFill>
              </a:rPr>
              <a:t>higher weights</a:t>
            </a:r>
            <a:r>
              <a:rPr lang="en">
                <a:solidFill>
                  <a:schemeClr val="dk1"/>
                </a:solidFill>
              </a:rPr>
              <a:t> to key interactions—like </a:t>
            </a:r>
            <a:r>
              <a:rPr b="1" lang="en">
                <a:solidFill>
                  <a:schemeClr val="dk1"/>
                </a:solidFill>
              </a:rPr>
              <a:t>drops in engagement</a:t>
            </a:r>
            <a:r>
              <a:rPr lang="en">
                <a:solidFill>
                  <a:schemeClr val="dk1"/>
                </a:solidFill>
              </a:rPr>
              <a:t>—yielding </a:t>
            </a:r>
            <a:r>
              <a:rPr b="1" lang="en">
                <a:solidFill>
                  <a:schemeClr val="dk1"/>
                </a:solidFill>
              </a:rPr>
              <a:t>stronger predictions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interpretable insights</a:t>
            </a:r>
            <a:r>
              <a:rPr lang="en">
                <a:solidFill>
                  <a:schemeClr val="dk1"/>
                </a:solidFill>
              </a:rPr>
              <a:t> into </a:t>
            </a:r>
            <a:r>
              <a:rPr i="1" lang="en">
                <a:solidFill>
                  <a:schemeClr val="dk1"/>
                </a:solidFill>
              </a:rPr>
              <a:t>which</a:t>
            </a:r>
            <a:r>
              <a:rPr lang="en">
                <a:solidFill>
                  <a:schemeClr val="dk1"/>
                </a:solidFill>
              </a:rPr>
              <a:t> time steps drove the decision.”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d50292c37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7d50292c3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“Here’s the working recipe: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Prepare sequences</a:t>
            </a:r>
            <a:r>
              <a:rPr lang="en">
                <a:solidFill>
                  <a:schemeClr val="dk1"/>
                </a:solidFill>
              </a:rPr>
              <a:t>—clean, normalize, encode; build a base RNN.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Compute alignment scores</a:t>
            </a:r>
            <a:r>
              <a:rPr lang="en">
                <a:solidFill>
                  <a:schemeClr val="dk1"/>
                </a:solidFill>
              </a:rPr>
              <a:t> against the encoded inputs.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Generate attention weights</a:t>
            </a:r>
            <a:r>
              <a:rPr lang="en">
                <a:solidFill>
                  <a:schemeClr val="dk1"/>
                </a:solidFill>
              </a:rPr>
              <a:t> with softmax.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Form the context vector</a:t>
            </a:r>
            <a:r>
              <a:rPr lang="en">
                <a:solidFill>
                  <a:schemeClr val="dk1"/>
                </a:solidFill>
              </a:rPr>
              <a:t> as a weighted sum.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Integrate &amp; output</a:t>
            </a:r>
            <a:r>
              <a:rPr lang="en">
                <a:solidFill>
                  <a:schemeClr val="dk1"/>
                </a:solidFill>
              </a:rPr>
              <a:t>—combine context with state.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Train &amp; optimize</a:t>
            </a:r>
            <a:r>
              <a:rPr lang="en">
                <a:solidFill>
                  <a:schemeClr val="dk1"/>
                </a:solidFill>
              </a:rPr>
              <a:t>—watch metrics, check overfitting, compare variants.”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44e3f0d77_2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944e3f0d77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“Because attention </a:t>
            </a:r>
            <a:r>
              <a:rPr b="1" lang="en">
                <a:solidFill>
                  <a:schemeClr val="dk1"/>
                </a:solidFill>
              </a:rPr>
              <a:t>assigns weights across a sequence</a:t>
            </a:r>
            <a:r>
              <a:rPr lang="en">
                <a:solidFill>
                  <a:schemeClr val="dk1"/>
                </a:solidFill>
              </a:rPr>
              <a:t>, it </a:t>
            </a:r>
            <a:r>
              <a:rPr b="1" lang="en">
                <a:solidFill>
                  <a:schemeClr val="dk1"/>
                </a:solidFill>
              </a:rPr>
              <a:t>naturally extends to language</a:t>
            </a:r>
            <a:r>
              <a:rPr lang="en">
                <a:solidFill>
                  <a:schemeClr val="dk1"/>
                </a:solidFill>
              </a:rPr>
              <a:t>: at each step, the model can focus on the most relevant positions. The same mechanics—</a:t>
            </a:r>
            <a:r>
              <a:rPr b="1" lang="en">
                <a:solidFill>
                  <a:schemeClr val="dk1"/>
                </a:solidFill>
              </a:rPr>
              <a:t>alignment scores → attention weights → context vector</a:t>
            </a:r>
            <a:r>
              <a:rPr lang="en">
                <a:solidFill>
                  <a:schemeClr val="dk1"/>
                </a:solidFill>
              </a:rPr>
              <a:t>—carry over, helping retain long-range dependencies while keeping model focus </a:t>
            </a:r>
            <a:r>
              <a:rPr b="1" lang="en">
                <a:solidFill>
                  <a:schemeClr val="dk1"/>
                </a:solidFill>
              </a:rPr>
              <a:t>interpretable</a:t>
            </a:r>
            <a:r>
              <a:rPr lang="en">
                <a:solidFill>
                  <a:schemeClr val="dk1"/>
                </a:solidFill>
              </a:rPr>
              <a:t>.”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/>
          <p:nvPr>
            <p:ph type="title"/>
          </p:nvPr>
        </p:nvSpPr>
        <p:spPr>
          <a:xfrm>
            <a:off x="407194" y="178941"/>
            <a:ext cx="78867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00">
                <a:solidFill>
                  <a:srgbClr val="002060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5" name="Google Shape;15;p17"/>
          <p:cNvSpPr txBox="1"/>
          <p:nvPr>
            <p:ph idx="1" type="body"/>
          </p:nvPr>
        </p:nvSpPr>
        <p:spPr>
          <a:xfrm>
            <a:off x="400050" y="10263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00"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2" type="sldNum"/>
          </p:nvPr>
        </p:nvSpPr>
        <p:spPr>
          <a:xfrm>
            <a:off x="8688150" y="4767275"/>
            <a:ext cx="360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2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"/>
          <p:cNvPicPr preferRelativeResize="0"/>
          <p:nvPr/>
        </p:nvPicPr>
        <p:blipFill rotWithShape="1">
          <a:blip r:embed="rId3">
            <a:alphaModFix/>
          </a:blip>
          <a:srcRect b="-10" l="0" r="0" t="0"/>
          <a:stretch/>
        </p:blipFill>
        <p:spPr>
          <a:xfrm>
            <a:off x="488834" y="3548250"/>
            <a:ext cx="2094225" cy="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"/>
          <p:cNvSpPr txBox="1"/>
          <p:nvPr/>
        </p:nvSpPr>
        <p:spPr>
          <a:xfrm>
            <a:off x="286250" y="543075"/>
            <a:ext cx="3221100" cy="24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1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Attention with RNNs</a:t>
            </a:r>
            <a:endParaRPr b="0" i="0" sz="3400" u="none" cap="none" strike="noStrike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4600" u="none" cap="none" strike="noStrike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  <p:pic>
        <p:nvPicPr>
          <p:cNvPr id="62" name="Google Shape;6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97689" y="8"/>
            <a:ext cx="422435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/>
          <p:cNvSpPr/>
          <p:nvPr/>
        </p:nvSpPr>
        <p:spPr>
          <a:xfrm>
            <a:off x="3398625" y="0"/>
            <a:ext cx="5745300" cy="5143500"/>
          </a:xfrm>
          <a:prstGeom prst="rect">
            <a:avLst/>
          </a:prstGeom>
          <a:solidFill>
            <a:srgbClr val="01A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3441675" y="569200"/>
            <a:ext cx="26334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Char char="●"/>
            </a:pPr>
            <a:r>
              <a:rPr lang="en" sz="900">
                <a:solidFill>
                  <a:schemeClr val="dk1"/>
                </a:solidFill>
              </a:rPr>
              <a:t>RNNs carry memory, but long sequences dilute key information.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Char char="●"/>
            </a:pPr>
            <a:r>
              <a:rPr b="1" lang="en" sz="900">
                <a:solidFill>
                  <a:schemeClr val="dk1"/>
                </a:solidFill>
              </a:rPr>
              <a:t>Attention</a:t>
            </a:r>
            <a:r>
              <a:rPr lang="en" sz="900">
                <a:solidFill>
                  <a:schemeClr val="dk1"/>
                </a:solidFill>
              </a:rPr>
              <a:t> adds a selective focus: dynamically weights time steps.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Char char="●"/>
            </a:pPr>
            <a:r>
              <a:rPr lang="en" sz="900">
                <a:solidFill>
                  <a:schemeClr val="dk1"/>
                </a:solidFill>
              </a:rPr>
              <a:t>Result: better long-term dependency capture and clearer model decisions across forecasting, language tasks, and sequential behaviors</a:t>
            </a:r>
            <a:endParaRPr b="1" sz="900">
              <a:solidFill>
                <a:schemeClr val="dk1"/>
              </a:solidFill>
            </a:endParaRPr>
          </a:p>
        </p:txBody>
      </p:sp>
      <p:sp>
        <p:nvSpPr>
          <p:cNvPr id="69" name="Google Shape;69;p2"/>
          <p:cNvSpPr txBox="1"/>
          <p:nvPr>
            <p:ph idx="4294967295" type="ctrTitle"/>
          </p:nvPr>
        </p:nvSpPr>
        <p:spPr>
          <a:xfrm>
            <a:off x="351375" y="1042675"/>
            <a:ext cx="3090300" cy="17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Attention + </a:t>
            </a:r>
            <a:r>
              <a:rPr b="1" i="0" lang="en" sz="3600" u="none" cap="none" strike="noStrike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RNNs: The big picture</a:t>
            </a:r>
            <a:endParaRPr b="1" i="0" sz="36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4eaa44383_0_39"/>
          <p:cNvSpPr/>
          <p:nvPr/>
        </p:nvSpPr>
        <p:spPr>
          <a:xfrm>
            <a:off x="3398700" y="0"/>
            <a:ext cx="5745300" cy="5143500"/>
          </a:xfrm>
          <a:prstGeom prst="rect">
            <a:avLst/>
          </a:prstGeom>
          <a:solidFill>
            <a:srgbClr val="01A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34eaa44383_0_39"/>
          <p:cNvSpPr txBox="1"/>
          <p:nvPr/>
        </p:nvSpPr>
        <p:spPr>
          <a:xfrm>
            <a:off x="3316900" y="681450"/>
            <a:ext cx="3341700" cy="25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What it is:</a:t>
            </a:r>
            <a:r>
              <a:rPr lang="en" sz="1100">
                <a:solidFill>
                  <a:schemeClr val="dk1"/>
                </a:solidFill>
              </a:rPr>
              <a:t> a mechanism that highlights the </a:t>
            </a:r>
            <a:r>
              <a:rPr b="1" lang="en" sz="1100">
                <a:solidFill>
                  <a:schemeClr val="dk1"/>
                </a:solidFill>
              </a:rPr>
              <a:t>most relevant</a:t>
            </a:r>
            <a:r>
              <a:rPr lang="en" sz="1100">
                <a:solidFill>
                  <a:schemeClr val="dk1"/>
                </a:solidFill>
              </a:rPr>
              <a:t> parts of an input sequence.</a:t>
            </a:r>
            <a:endParaRPr sz="110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Key terms: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Attention weights</a:t>
            </a:r>
            <a:r>
              <a:rPr lang="en" sz="1100">
                <a:solidFill>
                  <a:schemeClr val="dk1"/>
                </a:solidFill>
              </a:rPr>
              <a:t> (importance per time step)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Alignment score</a:t>
            </a:r>
            <a:r>
              <a:rPr lang="en" sz="1100">
                <a:solidFill>
                  <a:schemeClr val="dk1"/>
                </a:solidFill>
              </a:rPr>
              <a:t> (relevance measure driving weights)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Context vector</a:t>
            </a:r>
            <a:r>
              <a:rPr lang="en" sz="1100">
                <a:solidFill>
                  <a:schemeClr val="dk1"/>
                </a:solidFill>
              </a:rPr>
              <a:t> (weighted sum of sequence representations)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Types:</a:t>
            </a:r>
            <a:r>
              <a:rPr lang="en" sz="1100">
                <a:solidFill>
                  <a:schemeClr val="dk1"/>
                </a:solidFill>
              </a:rPr>
              <a:t> additive vs. multiplicative (dot-product) attention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76" name="Google Shape;76;g334eaa44383_0_39"/>
          <p:cNvSpPr txBox="1"/>
          <p:nvPr>
            <p:ph idx="4294967295" type="ctrTitle"/>
          </p:nvPr>
        </p:nvSpPr>
        <p:spPr>
          <a:xfrm>
            <a:off x="322800" y="1043000"/>
            <a:ext cx="30759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4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Fundamentals of Attention</a:t>
            </a:r>
            <a:endParaRPr b="1" i="0" sz="34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" name="Google Shape;77;g334eaa44383_0_39"/>
          <p:cNvSpPr txBox="1"/>
          <p:nvPr/>
        </p:nvSpPr>
        <p:spPr>
          <a:xfrm>
            <a:off x="106325" y="2516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4f63cf967_0_26"/>
          <p:cNvSpPr/>
          <p:nvPr/>
        </p:nvSpPr>
        <p:spPr>
          <a:xfrm>
            <a:off x="3398625" y="9525"/>
            <a:ext cx="5745300" cy="5143500"/>
          </a:xfrm>
          <a:prstGeom prst="rect">
            <a:avLst/>
          </a:prstGeom>
          <a:solidFill>
            <a:srgbClr val="01A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334f63cf967_0_26"/>
          <p:cNvSpPr txBox="1"/>
          <p:nvPr/>
        </p:nvSpPr>
        <p:spPr>
          <a:xfrm>
            <a:off x="3336825" y="790500"/>
            <a:ext cx="3226800" cy="25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For each output step: compute </a:t>
            </a:r>
            <a:r>
              <a:rPr b="1" lang="en" sz="1100">
                <a:solidFill>
                  <a:schemeClr val="dk1"/>
                </a:solidFill>
              </a:rPr>
              <a:t>alignment scores</a:t>
            </a:r>
            <a:r>
              <a:rPr lang="en" sz="1100">
                <a:solidFill>
                  <a:schemeClr val="dk1"/>
                </a:solidFill>
              </a:rPr>
              <a:t> between current state and each input position.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Apply </a:t>
            </a:r>
            <a:r>
              <a:rPr b="1" lang="en" sz="1100">
                <a:solidFill>
                  <a:schemeClr val="dk1"/>
                </a:solidFill>
              </a:rPr>
              <a:t>softmax</a:t>
            </a:r>
            <a:r>
              <a:rPr lang="en" sz="1100">
                <a:solidFill>
                  <a:schemeClr val="dk1"/>
                </a:solidFill>
              </a:rPr>
              <a:t> → attention weights that sum to 1.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Form </a:t>
            </a:r>
            <a:r>
              <a:rPr b="1" lang="en" sz="1100">
                <a:solidFill>
                  <a:schemeClr val="dk1"/>
                </a:solidFill>
              </a:rPr>
              <a:t>context vector</a:t>
            </a:r>
            <a:r>
              <a:rPr lang="en" sz="1100">
                <a:solidFill>
                  <a:schemeClr val="dk1"/>
                </a:solidFill>
              </a:rPr>
              <a:t> = weighted sum of hidden states.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Feed context (optionally with current state) to produce the output.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Effect: a dynamic spotlight on the most pertinent inputs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84" name="Google Shape;84;g334f63cf967_0_26"/>
          <p:cNvSpPr txBox="1"/>
          <p:nvPr>
            <p:ph idx="4294967295" type="ctrTitle"/>
          </p:nvPr>
        </p:nvSpPr>
        <p:spPr>
          <a:xfrm>
            <a:off x="260925" y="1112900"/>
            <a:ext cx="30759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4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How attention works</a:t>
            </a:r>
            <a:endParaRPr b="1" i="0" sz="36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5" name="Google Shape;85;g334f63cf967_0_26"/>
          <p:cNvSpPr txBox="1"/>
          <p:nvPr/>
        </p:nvSpPr>
        <p:spPr>
          <a:xfrm>
            <a:off x="106325" y="2516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2547984f4_0_4"/>
          <p:cNvSpPr txBox="1"/>
          <p:nvPr/>
        </p:nvSpPr>
        <p:spPr>
          <a:xfrm>
            <a:off x="4855864" y="1049536"/>
            <a:ext cx="2467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1" name="Google Shape;91;g332547984f4_0_4" title="AttentionProcessF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425" y="695950"/>
            <a:ext cx="4988474" cy="3433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34f352642b_0_10"/>
          <p:cNvSpPr/>
          <p:nvPr/>
        </p:nvSpPr>
        <p:spPr>
          <a:xfrm>
            <a:off x="3398625" y="0"/>
            <a:ext cx="5745300" cy="5143500"/>
          </a:xfrm>
          <a:prstGeom prst="rect">
            <a:avLst/>
          </a:prstGeom>
          <a:solidFill>
            <a:srgbClr val="01A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34f352642b_0_10"/>
          <p:cNvSpPr txBox="1"/>
          <p:nvPr/>
        </p:nvSpPr>
        <p:spPr>
          <a:xfrm>
            <a:off x="3464900" y="821700"/>
            <a:ext cx="3075900" cy="23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Add attention to </a:t>
            </a:r>
            <a:r>
              <a:rPr b="1" lang="en" sz="1100">
                <a:solidFill>
                  <a:schemeClr val="dk1"/>
                </a:solidFill>
              </a:rPr>
              <a:t>simple RNNs, LSTMs, or GRUs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Choose scoring: </a:t>
            </a:r>
            <a:r>
              <a:rPr b="1" lang="en" sz="1100">
                <a:solidFill>
                  <a:schemeClr val="dk1"/>
                </a:solidFill>
              </a:rPr>
              <a:t>additive</a:t>
            </a:r>
            <a:r>
              <a:rPr lang="en" sz="1100">
                <a:solidFill>
                  <a:schemeClr val="dk1"/>
                </a:solidFill>
              </a:rPr>
              <a:t> (small feedforward net) or </a:t>
            </a:r>
            <a:r>
              <a:rPr b="1" lang="en" sz="1100">
                <a:solidFill>
                  <a:schemeClr val="dk1"/>
                </a:solidFill>
              </a:rPr>
              <a:t>multiplicative</a:t>
            </a:r>
            <a:r>
              <a:rPr lang="en" sz="1100">
                <a:solidFill>
                  <a:schemeClr val="dk1"/>
                </a:solidFill>
              </a:rPr>
              <a:t> (dot product).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Improves sequence modeling where context varies over time</a:t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8" name="Google Shape;98;g334f352642b_0_10"/>
          <p:cNvSpPr txBox="1"/>
          <p:nvPr>
            <p:ph idx="4294967295" type="ctrTitle"/>
          </p:nvPr>
        </p:nvSpPr>
        <p:spPr>
          <a:xfrm>
            <a:off x="238325" y="1197475"/>
            <a:ext cx="30759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Integrating attention with RNNs</a:t>
            </a:r>
            <a:endParaRPr b="1" i="0" sz="36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9" name="Google Shape;99;g334f352642b_0_10"/>
          <p:cNvSpPr txBox="1"/>
          <p:nvPr/>
        </p:nvSpPr>
        <p:spPr>
          <a:xfrm>
            <a:off x="106325" y="2516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d50292c37_0_14"/>
          <p:cNvSpPr/>
          <p:nvPr/>
        </p:nvSpPr>
        <p:spPr>
          <a:xfrm>
            <a:off x="3398625" y="0"/>
            <a:ext cx="5745300" cy="5143500"/>
          </a:xfrm>
          <a:prstGeom prst="rect">
            <a:avLst/>
          </a:prstGeom>
          <a:solidFill>
            <a:srgbClr val="01A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7d50292c37_0_14"/>
          <p:cNvSpPr txBox="1"/>
          <p:nvPr/>
        </p:nvSpPr>
        <p:spPr>
          <a:xfrm>
            <a:off x="3451125" y="517625"/>
            <a:ext cx="3120600" cy="25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Financial forecasting:</a:t>
            </a:r>
            <a:r>
              <a:rPr lang="en" sz="1100">
                <a:solidFill>
                  <a:schemeClr val="dk1"/>
                </a:solidFill>
              </a:rPr>
              <a:t> focus on influential historical steps → better asset/volatility predictions.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Patient monitoring:</a:t>
            </a:r>
            <a:r>
              <a:rPr lang="en" sz="1100">
                <a:solidFill>
                  <a:schemeClr val="dk1"/>
                </a:solidFill>
              </a:rPr>
              <a:t> highlight critical changes in vitals → earlier intervention, fewer false alarms.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Retail demand:</a:t>
            </a:r>
            <a:r>
              <a:rPr lang="en" sz="1100">
                <a:solidFill>
                  <a:schemeClr val="dk1"/>
                </a:solidFill>
              </a:rPr>
              <a:t> emphasize recent/contextually significant sales periods → improved inventory planning.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6" name="Google Shape;106;g37d50292c37_0_14"/>
          <p:cNvSpPr txBox="1"/>
          <p:nvPr>
            <p:ph idx="4294967295" type="ctrTitle"/>
          </p:nvPr>
        </p:nvSpPr>
        <p:spPr>
          <a:xfrm>
            <a:off x="160575" y="1203450"/>
            <a:ext cx="30759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600" u="none" cap="none" strike="noStrike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Industry examples</a:t>
            </a:r>
            <a:endParaRPr b="1" i="0" sz="36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7" name="Google Shape;107;g37d50292c37_0_14"/>
          <p:cNvSpPr txBox="1"/>
          <p:nvPr/>
        </p:nvSpPr>
        <p:spPr>
          <a:xfrm>
            <a:off x="106325" y="2516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44e3f0d77_2_7"/>
          <p:cNvSpPr/>
          <p:nvPr/>
        </p:nvSpPr>
        <p:spPr>
          <a:xfrm>
            <a:off x="3398625" y="0"/>
            <a:ext cx="5745300" cy="5143500"/>
          </a:xfrm>
          <a:prstGeom prst="rect">
            <a:avLst/>
          </a:prstGeom>
          <a:solidFill>
            <a:srgbClr val="01A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944e3f0d77_2_7"/>
          <p:cNvSpPr txBox="1"/>
          <p:nvPr/>
        </p:nvSpPr>
        <p:spPr>
          <a:xfrm>
            <a:off x="3451125" y="517625"/>
            <a:ext cx="3120600" cy="25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Standard RNN treated all past actions equally → missed signals.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Attention-enhanced RNN assigns </a:t>
            </a:r>
            <a:r>
              <a:rPr b="1" lang="en" sz="1100">
                <a:solidFill>
                  <a:schemeClr val="dk1"/>
                </a:solidFill>
              </a:rPr>
              <a:t>higher weights</a:t>
            </a:r>
            <a:r>
              <a:rPr lang="en" sz="1100">
                <a:solidFill>
                  <a:schemeClr val="dk1"/>
                </a:solidFill>
              </a:rPr>
              <a:t> to key interactions (e.g., engagement drops).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Produces stronger predictions </a:t>
            </a:r>
            <a:r>
              <a:rPr b="1" lang="en" sz="1100">
                <a:solidFill>
                  <a:schemeClr val="dk1"/>
                </a:solidFill>
              </a:rPr>
              <a:t>and</a:t>
            </a:r>
            <a:r>
              <a:rPr lang="en" sz="1100">
                <a:solidFill>
                  <a:schemeClr val="dk1"/>
                </a:solidFill>
              </a:rPr>
              <a:t> interpretable insights (which time steps mattered)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4" name="Google Shape;114;g3944e3f0d77_2_7"/>
          <p:cNvSpPr txBox="1"/>
          <p:nvPr>
            <p:ph idx="4294967295" type="ctrTitle"/>
          </p:nvPr>
        </p:nvSpPr>
        <p:spPr>
          <a:xfrm>
            <a:off x="160575" y="1203450"/>
            <a:ext cx="30759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600" u="none" cap="none" strike="noStrike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Case study: </a:t>
            </a: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Churn prediction with attention</a:t>
            </a:r>
            <a:endParaRPr b="1" i="0" sz="36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5" name="Google Shape;115;g3944e3f0d77_2_7"/>
          <p:cNvSpPr txBox="1"/>
          <p:nvPr/>
        </p:nvSpPr>
        <p:spPr>
          <a:xfrm>
            <a:off x="106325" y="2516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d50292c37_0_6"/>
          <p:cNvSpPr/>
          <p:nvPr/>
        </p:nvSpPr>
        <p:spPr>
          <a:xfrm>
            <a:off x="3398625" y="0"/>
            <a:ext cx="5745300" cy="5143500"/>
          </a:xfrm>
          <a:prstGeom prst="rect">
            <a:avLst/>
          </a:prstGeom>
          <a:solidFill>
            <a:srgbClr val="01A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7d50292c37_0_6"/>
          <p:cNvSpPr txBox="1"/>
          <p:nvPr/>
        </p:nvSpPr>
        <p:spPr>
          <a:xfrm>
            <a:off x="3106325" y="633325"/>
            <a:ext cx="3380700" cy="25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AutoNum type="arabicPeriod"/>
            </a:pPr>
            <a:r>
              <a:rPr b="1" lang="en" sz="900">
                <a:solidFill>
                  <a:schemeClr val="dk1"/>
                </a:solidFill>
              </a:rPr>
              <a:t>Prepare sequences</a:t>
            </a:r>
            <a:r>
              <a:rPr lang="en" sz="900">
                <a:solidFill>
                  <a:schemeClr val="dk1"/>
                </a:solidFill>
              </a:rPr>
              <a:t> (clean, normalize, encode; build base RNN).</a:t>
            </a:r>
            <a:endParaRPr sz="900">
              <a:solidFill>
                <a:schemeClr val="dk1"/>
              </a:solidFill>
            </a:endParaRPr>
          </a:p>
          <a:p>
            <a:pPr indent="-285750" lvl="0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AutoNum type="arabicPeriod"/>
            </a:pPr>
            <a:r>
              <a:rPr b="1" lang="en" sz="900">
                <a:solidFill>
                  <a:schemeClr val="dk1"/>
                </a:solidFill>
              </a:rPr>
              <a:t>Compute alignment scores</a:t>
            </a:r>
            <a:r>
              <a:rPr lang="en" sz="900">
                <a:solidFill>
                  <a:schemeClr val="dk1"/>
                </a:solidFill>
              </a:rPr>
              <a:t> vs. encoded inputs.</a:t>
            </a:r>
            <a:endParaRPr sz="900">
              <a:solidFill>
                <a:schemeClr val="dk1"/>
              </a:solidFill>
            </a:endParaRPr>
          </a:p>
          <a:p>
            <a:pPr indent="-285750" lvl="0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AutoNum type="arabicPeriod"/>
            </a:pPr>
            <a:r>
              <a:rPr b="1" lang="en" sz="900">
                <a:solidFill>
                  <a:schemeClr val="dk1"/>
                </a:solidFill>
              </a:rPr>
              <a:t>Generate attention weights</a:t>
            </a:r>
            <a:r>
              <a:rPr lang="en" sz="900">
                <a:solidFill>
                  <a:schemeClr val="dk1"/>
                </a:solidFill>
              </a:rPr>
              <a:t> (softmax).</a:t>
            </a:r>
            <a:endParaRPr sz="900">
              <a:solidFill>
                <a:schemeClr val="dk1"/>
              </a:solidFill>
            </a:endParaRPr>
          </a:p>
          <a:p>
            <a:pPr indent="-285750" lvl="0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AutoNum type="arabicPeriod"/>
            </a:pPr>
            <a:r>
              <a:rPr b="1" lang="en" sz="900">
                <a:solidFill>
                  <a:schemeClr val="dk1"/>
                </a:solidFill>
              </a:rPr>
              <a:t>Form context vector</a:t>
            </a:r>
            <a:r>
              <a:rPr lang="en" sz="900">
                <a:solidFill>
                  <a:schemeClr val="dk1"/>
                </a:solidFill>
              </a:rPr>
              <a:t> (weighted sum).</a:t>
            </a:r>
            <a:endParaRPr sz="900">
              <a:solidFill>
                <a:schemeClr val="dk1"/>
              </a:solidFill>
            </a:endParaRPr>
          </a:p>
          <a:p>
            <a:pPr indent="-285750" lvl="0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AutoNum type="arabicPeriod"/>
            </a:pPr>
            <a:r>
              <a:rPr b="1" lang="en" sz="900">
                <a:solidFill>
                  <a:schemeClr val="dk1"/>
                </a:solidFill>
              </a:rPr>
              <a:t>Integrate &amp; output</a:t>
            </a:r>
            <a:r>
              <a:rPr lang="en" sz="900">
                <a:solidFill>
                  <a:schemeClr val="dk1"/>
                </a:solidFill>
              </a:rPr>
              <a:t> (combine context with state).</a:t>
            </a:r>
            <a:endParaRPr sz="900">
              <a:solidFill>
                <a:schemeClr val="dk1"/>
              </a:solidFill>
            </a:endParaRPr>
          </a:p>
          <a:p>
            <a:pPr indent="-285750" lvl="0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AutoNum type="arabicPeriod"/>
            </a:pPr>
            <a:r>
              <a:rPr b="1" lang="en" sz="900">
                <a:solidFill>
                  <a:schemeClr val="dk1"/>
                </a:solidFill>
              </a:rPr>
              <a:t>Train &amp; optimize</a:t>
            </a:r>
            <a:r>
              <a:rPr lang="en" sz="900">
                <a:solidFill>
                  <a:schemeClr val="dk1"/>
                </a:solidFill>
              </a:rPr>
              <a:t> (metrics, overfitting checks, comparisons)</a:t>
            </a:r>
            <a:endParaRPr b="1" sz="900">
              <a:solidFill>
                <a:schemeClr val="dk1"/>
              </a:solidFill>
            </a:endParaRPr>
          </a:p>
        </p:txBody>
      </p:sp>
      <p:sp>
        <p:nvSpPr>
          <p:cNvPr id="122" name="Google Shape;122;g37d50292c37_0_6"/>
          <p:cNvSpPr txBox="1"/>
          <p:nvPr>
            <p:ph idx="4294967295" type="ctrTitle"/>
          </p:nvPr>
        </p:nvSpPr>
        <p:spPr>
          <a:xfrm>
            <a:off x="238325" y="1197475"/>
            <a:ext cx="30759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600" u="none" cap="none" strike="noStrike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RNN Process</a:t>
            </a:r>
            <a:endParaRPr b="1" i="0" sz="36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3" name="Google Shape;123;g37d50292c37_0_6"/>
          <p:cNvSpPr txBox="1"/>
          <p:nvPr/>
        </p:nvSpPr>
        <p:spPr>
          <a:xfrm>
            <a:off x="106325" y="2516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44e3f0d77_2_15"/>
          <p:cNvSpPr/>
          <p:nvPr/>
        </p:nvSpPr>
        <p:spPr>
          <a:xfrm>
            <a:off x="3398625" y="0"/>
            <a:ext cx="5745300" cy="5143500"/>
          </a:xfrm>
          <a:prstGeom prst="rect">
            <a:avLst/>
          </a:prstGeom>
          <a:solidFill>
            <a:srgbClr val="01A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944e3f0d77_2_15"/>
          <p:cNvSpPr txBox="1"/>
          <p:nvPr/>
        </p:nvSpPr>
        <p:spPr>
          <a:xfrm>
            <a:off x="3398625" y="384800"/>
            <a:ext cx="3120600" cy="25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Because </a:t>
            </a:r>
            <a:r>
              <a:rPr b="1" lang="en" sz="1100">
                <a:solidFill>
                  <a:schemeClr val="dk1"/>
                </a:solidFill>
              </a:rPr>
              <a:t>attention</a:t>
            </a:r>
            <a:r>
              <a:rPr lang="en" sz="1100">
                <a:solidFill>
                  <a:schemeClr val="dk1"/>
                </a:solidFill>
              </a:rPr>
              <a:t> assigns weights across a sequence, it naturally extends to </a:t>
            </a:r>
            <a:r>
              <a:rPr b="1" lang="en" sz="1100">
                <a:solidFill>
                  <a:schemeClr val="dk1"/>
                </a:solidFill>
              </a:rPr>
              <a:t>language tasks</a:t>
            </a:r>
            <a:r>
              <a:rPr lang="en" sz="1100">
                <a:solidFill>
                  <a:schemeClr val="dk1"/>
                </a:solidFill>
              </a:rPr>
              <a:t> where the model must focus on the most relevant positions at each step.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same mechanics—</a:t>
            </a:r>
            <a:r>
              <a:rPr b="1" lang="en" sz="1100">
                <a:solidFill>
                  <a:schemeClr val="dk1"/>
                </a:solidFill>
              </a:rPr>
              <a:t>alignment scores → attention weights → context vector</a:t>
            </a:r>
            <a:r>
              <a:rPr lang="en" sz="1100">
                <a:solidFill>
                  <a:schemeClr val="dk1"/>
                </a:solidFill>
              </a:rPr>
              <a:t>—carry over to language modeling, helping retain long-range dependencies and making model focus </a:t>
            </a:r>
            <a:r>
              <a:rPr b="1" lang="en" sz="1100">
                <a:solidFill>
                  <a:schemeClr val="dk1"/>
                </a:solidFill>
              </a:rPr>
              <a:t>interpretable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0" name="Google Shape;130;g3944e3f0d77_2_15"/>
          <p:cNvSpPr txBox="1"/>
          <p:nvPr>
            <p:ph idx="4294967295" type="ctrTitle"/>
          </p:nvPr>
        </p:nvSpPr>
        <p:spPr>
          <a:xfrm>
            <a:off x="160575" y="1203450"/>
            <a:ext cx="30759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Foreshadow: Attention for Language Models</a:t>
            </a:r>
            <a:endParaRPr b="1" i="0" sz="36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1" name="Google Shape;131;g3944e3f0d77_2_15"/>
          <p:cNvSpPr txBox="1"/>
          <p:nvPr/>
        </p:nvSpPr>
        <p:spPr>
          <a:xfrm>
            <a:off x="106325" y="2516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